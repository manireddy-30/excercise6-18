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 USD)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2030 (Est.)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5.2</c:v>
                </c:pt>
                <c:pt idx="1">
                  <c:v>9.8</c:v>
                </c:pt>
                <c:pt idx="2">
                  <c:v>18.5</c:v>
                </c:pt>
                <c:pt idx="3">
                  <c:v>31.0</c:v>
                </c:pt>
                <c:pt idx="4">
                  <c:v>48.2</c:v>
                </c:pt>
                <c:pt idx="5">
                  <c:v>92.5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THE NEXT EVOLUTIONARY HORIZON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Artificial Intelligence &amp; Agentic Workflows</a:t>
            </a:r>
          </a:p>
          <a:p>
            <a:pPr>
              <a:defRPr sz="1500">
                <a:solidFill>
                  <a:srgbClr val="E2E8F0"/>
                </a:solidFill>
                <a:latin typeface="Calibri"/>
              </a:defRPr>
            </a:pPr>
            <a:r>
              <a:t>From generative conversation to autonomous decision-making, multi-agent frameworks, and real-world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966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Speaker: Sk Adil Azeez  |  M.Tech 1st Year (CSE), Regd. No: 261FB04035</a:t>
            </a:r>
          </a:p>
          <a:p>
            <a:pPr>
              <a:defRPr sz="1100">
                <a:solidFill>
                  <a:srgbClr val="38BDF8"/>
                </a:solidFill>
                <a:latin typeface="Calibri"/>
              </a:defRPr>
            </a:pPr>
            <a:r>
              <a:t>Department of Computer Science &amp; Engineering | Vignan's Foundation for Science, Technology &amp;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E7490"/>
                </a:solidFill>
                <a:latin typeface="Calibri"/>
              </a:defRPr>
            </a:pPr>
            <a:r>
              <a:t>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Evolutionary Trajectory of 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CSE Technical Seminar | Vignan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E7490"/>
                </a:solidFill>
                <a:latin typeface="Calibri"/>
              </a:defRPr>
            </a:pPr>
            <a:r>
              <a:t>02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28416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20040"/>
          <a:lstStyle/>
          <a:p>
            <a:pPr algn="ctr">
              <a:spcAft>
                <a:spcPts val="800"/>
              </a:spcAft>
              <a:defRPr sz="1000" b="1">
                <a:solidFill>
                  <a:srgbClr val="0E7490"/>
                </a:solidFill>
                <a:latin typeface="Calibri"/>
              </a:defRPr>
            </a:pPr>
            <a:r>
              <a:t>PHASE 01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Wave 1: Classical AI</a:t>
            </a:r>
          </a:p>
          <a:p>
            <a:pPr>
              <a:spcAft>
                <a:spcPts val="1400"/>
              </a:spcAft>
              <a:defRPr sz="1100" i="1">
                <a:solidFill>
                  <a:srgbClr val="64748B"/>
                </a:solidFill>
                <a:latin typeface="Calibri"/>
              </a:defRPr>
            </a:pPr>
            <a:r>
              <a:t>Rules &amp; Symbolic Logic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Expert systems, decision trees, and deterministic heuristics designed for narrow, highly structured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20040"/>
          <a:lstStyle/>
          <a:p>
            <a:pPr algn="ctr">
              <a:spcAft>
                <a:spcPts val="800"/>
              </a:spcAft>
              <a:defRPr sz="1000" b="1">
                <a:solidFill>
                  <a:srgbClr val="0E7490"/>
                </a:solidFill>
                <a:latin typeface="Calibri"/>
              </a:defRPr>
            </a:pPr>
            <a:r>
              <a:t>PHASE 02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Wave 2: Generative AI</a:t>
            </a:r>
          </a:p>
          <a:p>
            <a:pPr>
              <a:spcAft>
                <a:spcPts val="1400"/>
              </a:spcAft>
              <a:defRPr sz="1100" i="1">
                <a:solidFill>
                  <a:srgbClr val="64748B"/>
                </a:solidFill>
                <a:latin typeface="Calibri"/>
              </a:defRPr>
            </a:pPr>
            <a:r>
              <a:t>LLMs &amp; Content Generation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Transformer architectures, foundation models, prompt engineering, and multimodal synthesis of text, code, and images.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20040"/>
          <a:lstStyle/>
          <a:p>
            <a:pPr algn="ctr">
              <a:spcAft>
                <a:spcPts val="800"/>
              </a:spcAft>
              <a:defRPr sz="1000" b="1">
                <a:solidFill>
                  <a:srgbClr val="0E7490"/>
                </a:solidFill>
                <a:latin typeface="Calibri"/>
              </a:defRPr>
            </a:pPr>
            <a:r>
              <a:t>PHASE 03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Wave 3: Agentic AI</a:t>
            </a:r>
          </a:p>
          <a:p>
            <a:pPr>
              <a:spcAft>
                <a:spcPts val="1400"/>
              </a:spcAft>
              <a:defRPr sz="1100" i="1">
                <a:solidFill>
                  <a:srgbClr val="64748B"/>
                </a:solidFill>
                <a:latin typeface="Calibri"/>
              </a:defRPr>
            </a:pPr>
            <a:r>
              <a:t>Autonomous Tool Use &amp; Goal Execution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Multi-agent collaboration, autonomous planning loops (ReAct), external API tool calling, and persistent state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E7490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Core Architecture of Autonomous Agent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CSE Technical Seminar | Vignan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E7490"/>
                </a:solidFill>
                <a:latin typeface="Calibri"/>
              </a:defRPr>
            </a:pPr>
            <a:r>
              <a:t>03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1. Reasoning &amp; Planning Engine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Deconstructs complex high-level goals into executable sub-tasks using Chain-of-Thought (CoT) and ReAct loops.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2. Working &amp; Episodic Memory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Maintains session scratchpads alongside vector-indexed long-term memory for contextual recall across turns.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3. External Tool Orchestration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Empowers models to execute code, query SQL databases, fetch live web APIs, and automate OS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4. Multi-Agent Coordination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Employs specialized sub-agents (planners, coders, reviewers) collaborating through structured state 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E7490"/>
                </a:solidFill>
                <a:latin typeface="Calibri"/>
              </a:defRPr>
            </a:pPr>
            <a:r>
              <a:t>MARKET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Global Agentic AI Market Growth (2024–2030 Projections)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CSE Technical Seminar | Vignan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E7490"/>
                </a:solidFill>
                <a:latin typeface="Calibri"/>
              </a:defRPr>
            </a:pPr>
            <a:r>
              <a:t>04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11480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Key Growth Drivers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Autonomous Software Engineering: Multi-agent code review, testing, and automatic bug remediation.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Workflow Automation: End-to-end task execution replacing static robotic process automation (RPA).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Enterprise Knowledge Systems: Retrieval-Augmented Generation (RAG) coupled with tool-calling agents.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Projected CAGR of ~38.4% leading up to 2030.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20640" y="1645920"/>
          <a:ext cx="63093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E7490"/>
                </a:solidFill>
                <a:latin typeface="Calibri"/>
              </a:defRPr>
            </a:pPr>
            <a:r>
              <a:t>RESEARCH &amp;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Strategic Impact &amp; Departmental Road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CSE Technical Seminar | Vignan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E7490"/>
                </a:solidFill>
                <a:latin typeface="Calibri"/>
              </a:defRPr>
            </a:pPr>
            <a:r>
              <a:t>05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1. Curriculum Modernization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Integrating modern agentic tool ecosystems (LangGraph, CrewAI, AutoGen) directly into active lab courses.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10728655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2. Student Research &amp; Capstone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Fostering multi-agent real-world applications in cybersecurity, autonomous IoT control, and FinTech fraud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43984"/>
            <a:ext cx="10728655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3. Industry-Ready Skillsets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Transitioning graduates from passive prompt engineering to autonomous system engineering and API orchestration.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