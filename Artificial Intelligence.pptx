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Plus Jakarta Sans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27739357-fde1-491d-936e-d68b0ddd2f6c.fntdata" /><ns0:Relationship Id="rIdFont14" Type="http://schemas.openxmlformats.org/officeDocument/2006/relationships/font" Target="fonts/70d61597-0290-41cf-ba02-2835060700b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4352776"/>
            <a:ext cx="4191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2400300"/>
            <a:ext cx="11239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TECHNOLOGY INTELLIGENCE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2771775"/>
            <a:ext cx="10626328" cy="6494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115"/>
              </a:lnSpc>
            </a:pPr>
            <a:r>
              <a:rPr b="1" sz="4650" i="0" u="none">
                <a:solidFill>
                  <a:srgbClr val="F8FAFC"/>
                </a:solidFill>
                <a:latin typeface="Plus Jakarta Sans"/>
              </a:rPr>
              <a:t>The AI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649860"/>
            <a:ext cx="8096250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From predictive models to autonomous agentic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5900" y="4286101"/>
            <a:ext cx="3369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Executive Architecture &amp; Market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75657"/>
            <a:ext cx="3403550" cy="2146696"/>
          </a:xfrm>
          <a:prstGeom prst="roundRect">
            <a:avLst>
              <a:gd name="adj" fmla="val 70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875657"/>
            <a:ext cx="3403550" cy="2146696"/>
          </a:xfrm>
          <a:prstGeom prst="roundRect">
            <a:avLst>
              <a:gd name="adj" fmla="val 70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875657"/>
            <a:ext cx="3403550" cy="2146696"/>
          </a:xfrm>
          <a:prstGeom prst="roundRect">
            <a:avLst>
              <a:gd name="adj" fmla="val 709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3228082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425" y="3228082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575" y="3228082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575" y="334238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3725" y="3342382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063" y="3342382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SYSTEM PARADIGM EVOLUTION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Core Architecture Tiers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837682"/>
            <a:ext cx="369206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Predictive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4190107"/>
            <a:ext cx="29082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Pattern recognition from structured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9425" y="3837682"/>
            <a:ext cx="369206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Generative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9425" y="4190107"/>
            <a:ext cx="29082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Multimodal synthesis via foundation models.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575" y="3837682"/>
            <a:ext cx="369206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Agentic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575" y="4190107"/>
            <a:ext cx="29082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Autonomous reasoning with tool orchestration.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91625" y="992385"/>
            <a:ext cx="2238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64748B"/>
                </a:solidFill>
                <a:latin typeface="Plus Jakarta Sans"/>
              </a:rPr>
              <a:t> Forecast Scale (USD Billions)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"/>
            <a:ext cx="5655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ECONOMIC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1050"/>
            <a:ext cx="5938242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Global AI Market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220217"/>
            <a:ext cx="5105400" cy="1000125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410842"/>
            <a:ext cx="5105400" cy="1000125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601467"/>
            <a:ext cx="5105400" cy="1000125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01155"/>
            <a:ext cx="5105400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01155"/>
            <a:ext cx="51054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OPERATIONAL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781050"/>
            <a:ext cx="11430000" cy="411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Enterprise Value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2420242"/>
            <a:ext cx="57864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700" i="0" u="none">
                <a:solidFill>
                  <a:srgbClr val="0284C7"/>
                </a:solidFill>
                <a:latin typeface="Plus Jakarta Sans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2801242"/>
            <a:ext cx="5786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Faster execution cycles across pipelines.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610867"/>
            <a:ext cx="57864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3991867"/>
            <a:ext cx="5786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Adoption favoring localized inference architectures.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4801492"/>
            <a:ext cx="57864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700" i="0" u="none">
                <a:solidFill>
                  <a:srgbClr val="2563EB"/>
                </a:solidFill>
                <a:latin typeface="Plus Jakarta Sans"/>
              </a:rPr>
              <a:t>2.4x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5182492"/>
            <a:ext cx="5786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Throughput gains via multi-agent networks.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57875" y="422136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5140" y="2160240"/>
            <a:ext cx="2321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STRATEGIC HORIZON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3098" y="2522190"/>
            <a:ext cx="6425803" cy="594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Intelligence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306960"/>
            <a:ext cx="762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Plus Jakarta Sans"/>
              </a:rPr>
              <a:t>Autonomous systems redefine competitive edge across digital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49265" y="4516635"/>
            <a:ext cx="48934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1050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https://images.stockcake.com/public/5/3/5/53591b03-284f-4b4e-b24b-562ca2350bee_large/neural-network-illuminated-stockcake.jpg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178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stockcake.com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